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0972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400">
                <a:solidFill>
                  <a:srgbClr val="F8FAFC"/>
                </a:solidFill>
                <a:latin typeface="Segoe UI"/>
              </a:rPr>
              <a:t>WireView HTTP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38BDF8"/>
                </a:solidFill>
                <a:latin typeface="Segoe UI"/>
              </a:rPr>
              <a:t>Low-Level TCP Socket HTTP/1.1 Engine &amp; Real-Time Protocol Inspector</a:t>
            </a:r>
          </a:p>
          <a:p>
            <a:pPr>
              <a:spcBef>
                <a:spcPts val="600"/>
              </a:spcBef>
            </a:pPr>
            <a:r>
              <a:rPr b="0" sz="1300">
                <a:solidFill>
                  <a:srgbClr val="94A3B8"/>
                </a:solidFill>
                <a:latin typeface="Segoe UI"/>
              </a:rPr>
              <a:t>A Scratch-Built, Zero-Framework Networking Engine with Full-Duplex Reactive Observability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754880"/>
            <a:ext cx="9966960" cy="1188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E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/>
            <a:r>
              <a:rPr b="1" sz="1200">
                <a:solidFill>
                  <a:srgbClr val="10B981"/>
                </a:solidFill>
                <a:latin typeface="Segoe UI"/>
              </a:rPr>
              <a:t>Computer Networks Mini-Project Presentation  |  Academic Year 2026</a:t>
            </a:r>
          </a:p>
          <a:p>
            <a:pPr>
              <a:spcBef>
                <a:spcPts val="400"/>
              </a:spcBef>
            </a:pPr>
            <a:r>
              <a:rPr b="0" sz="1050">
                <a:solidFill>
                  <a:srgbClr val="94A3B8"/>
                </a:solidFill>
                <a:latin typeface="Segoe UI"/>
              </a:rPr>
              <a:t>Topics Covered: Raw Berkeley Sockets (AF_INET) • RFC 9112 Wire Framing • Multi-Threaded TCP • SVG Pipeline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38BDF8"/>
                </a:solidFill>
                <a:latin typeface="Segoe UI"/>
              </a:rPr>
              <a:t>PROJECT MOTIVATION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200">
                <a:solidFill>
                  <a:srgbClr val="F8FAFC"/>
                </a:solidFill>
                <a:latin typeface="Segoe UI"/>
              </a:rPr>
              <a:t>1. Introduction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72544"/>
          </a:solidFill>
          <a:ln w="15240">
            <a:solidFill>
              <a:srgbClr val="2E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The Problem: The 'Black-Box' Abstraction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  <a:latin typeface="Segoe UI"/>
              </a:rPr>
              <a:t>• Modern web development relies entirely on high-level frameworks: </a:t>
            </a:r>
            <a:r>
              <a:rPr b="0" sz="1000">
                <a:solidFill>
                  <a:srgbClr val="94A3B8"/>
                </a:solidFill>
                <a:latin typeface="Segoe UI"/>
              </a:rPr>
              <a:t>Frameworks like Flask, Django, Express, and FastAPI hide all networking fundamentals.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  <a:latin typeface="Segoe UI"/>
              </a:rPr>
              <a:t>• Zero Visibility into Socket Mechanics: </a:t>
            </a:r>
            <a:r>
              <a:rPr b="0" sz="1000">
                <a:solidFill>
                  <a:srgbClr val="94A3B8"/>
                </a:solidFill>
                <a:latin typeface="Segoe UI"/>
              </a:rPr>
              <a:t>Developers never see raw socket.recv(), OS socket buffers, or TCP 3-way handshakes.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  <a:latin typeface="Segoe UI"/>
              </a:rPr>
              <a:t>• Wire-Format Framing is Obscured: </a:t>
            </a:r>
            <a:r>
              <a:rPr b="0" sz="1000">
                <a:solidFill>
                  <a:srgbClr val="94A3B8"/>
                </a:solidFill>
                <a:latin typeface="Segoe UI"/>
              </a:rPr>
              <a:t>CRLF delimiters (\r\n), byte counting, and chunked transfer boundaries remain unseen.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F8FAFC"/>
                </a:solidFill>
                <a:latin typeface="Segoe UI"/>
              </a:rPr>
              <a:t>• RFC Violations are Silently Swallowed: </a:t>
            </a:r>
            <a:r>
              <a:rPr b="0" sz="1000">
                <a:solidFill>
                  <a:srgbClr val="94A3B8"/>
                </a:solidFill>
                <a:latin typeface="Segoe UI"/>
              </a:rPr>
              <a:t>Framing ambiguities that cause HTTP Request Smuggling (RFC 9112) are rarely understood.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72544"/>
          </a:solidFill>
          <a:ln w="15240">
            <a:solidFill>
              <a:srgbClr val="2E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The Solution: WireView HTTP &amp; Studio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0B981"/>
                </a:solidFill>
                <a:latin typeface="Segoe UI"/>
              </a:rPr>
              <a:t>✔ Zero-Framework TCP Server: </a:t>
            </a:r>
            <a:r>
              <a:rPr b="0" sz="1000">
                <a:solidFill>
                  <a:srgbClr val="94A3B8"/>
                </a:solidFill>
                <a:latin typeface="Segoe UI"/>
              </a:rPr>
              <a:t>Built strictly on Python's raw socket module; no http.server, asyncio, or external libraries.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0B981"/>
                </a:solidFill>
                <a:latin typeface="Segoe UI"/>
              </a:rPr>
              <a:t>✔ Strict RFC 9112 Implementation: </a:t>
            </a:r>
            <a:r>
              <a:rPr b="0" sz="1000">
                <a:solidFill>
                  <a:srgbClr val="94A3B8"/>
                </a:solidFill>
                <a:latin typeface="Segoe UI"/>
              </a:rPr>
              <a:t>Complete request parser, security validator, dynamic router, and byte-level serializer.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0B981"/>
                </a:solidFill>
                <a:latin typeface="Segoe UI"/>
              </a:rPr>
              <a:t>✔ Microsecond Observability Bus: </a:t>
            </a:r>
            <a:r>
              <a:rPr b="0" sz="1000">
                <a:solidFill>
                  <a:srgbClr val="94A3B8"/>
                </a:solidFill>
                <a:latin typeface="Segoe UI"/>
              </a:rPr>
              <a:t>Nanosecond instrumentation emits live events via Server-Sent Events (SSE).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0B981"/>
                </a:solidFill>
                <a:latin typeface="Segoe UI"/>
              </a:rPr>
              <a:t>✔ Live SVG Pipeline Visualizer: </a:t>
            </a:r>
            <a:r>
              <a:rPr b="0" sz="1000">
                <a:solidFill>
                  <a:srgbClr val="94A3B8"/>
                </a:solidFill>
                <a:latin typeface="Segoe UI"/>
              </a:rPr>
              <a:t>A reactive UI traces each request sequentially through all 8 internal processing stages.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38BDF8"/>
                </a:solidFill>
                <a:latin typeface="Segoe UI"/>
              </a:rPr>
              <a:t>STEP-BY-STEP REQUEST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200">
                <a:solidFill>
                  <a:srgbClr val="F8FAFC"/>
                </a:solidFill>
                <a:latin typeface="Segoe UI"/>
              </a:rPr>
              <a:t>2. Working Process: The 8-Stage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1. TCP Accept</a:t>
            </a:r>
          </a:p>
          <a:p>
            <a:pPr>
              <a:spcBef>
                <a:spcPts val="200"/>
              </a:spcBef>
            </a:pPr>
            <a:r>
              <a:rPr b="0" sz="900">
                <a:solidFill>
                  <a:srgbClr val="F8FAFC"/>
                </a:solidFill>
                <a:latin typeface="Courier New"/>
              </a:rPr>
              <a:t>socket.accept()</a:t>
            </a:r>
          </a:p>
          <a:p>
            <a:pPr>
              <a:spcBef>
                <a:spcPts val="600"/>
              </a:spcBef>
            </a:pPr>
            <a:r>
              <a:rPr b="0" sz="950">
                <a:solidFill>
                  <a:srgbClr val="94A3B8"/>
                </a:solidFill>
                <a:latin typeface="Segoe UI"/>
              </a:rPr>
              <a:t>OS 3-way handshake established. Assigns connection ID &amp; spawns worker thread.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46888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2. StreamBuffer</a:t>
            </a:r>
          </a:p>
          <a:p>
            <a:pPr>
              <a:spcBef>
                <a:spcPts val="200"/>
              </a:spcBef>
            </a:pPr>
            <a:r>
              <a:rPr b="0" sz="900">
                <a:solidFill>
                  <a:srgbClr val="F8FAFC"/>
                </a:solidFill>
                <a:latin typeface="Courier New"/>
              </a:rPr>
              <a:t>recv() + Chunk Scan</a:t>
            </a:r>
          </a:p>
          <a:p>
            <a:pPr>
              <a:spcBef>
                <a:spcPts val="600"/>
              </a:spcBef>
            </a:pPr>
            <a:r>
              <a:rPr b="0" sz="950">
                <a:solidFill>
                  <a:srgbClr val="94A3B8"/>
                </a:solidFill>
                <a:latin typeface="Segoe UI"/>
              </a:rPr>
              <a:t>Reads raw socket bytes (8KB chunks). Buffers across fragmentation to \r\n\r\n.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46888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3. HTTP Parser</a:t>
            </a:r>
          </a:p>
          <a:p>
            <a:pPr>
              <a:spcBef>
                <a:spcPts val="200"/>
              </a:spcBef>
            </a:pPr>
            <a:r>
              <a:rPr b="0" sz="900">
                <a:solidFill>
                  <a:srgbClr val="F8FAFC"/>
                </a:solidFill>
                <a:latin typeface="Courier New"/>
              </a:rPr>
              <a:t>RFC 9112 Wire Parser</a:t>
            </a:r>
          </a:p>
          <a:p>
            <a:pPr>
              <a:spcBef>
                <a:spcPts val="600"/>
              </a:spcBef>
            </a:pPr>
            <a:r>
              <a:rPr b="0" sz="950">
                <a:solidFill>
                  <a:srgbClr val="94A3B8"/>
                </a:solidFill>
                <a:latin typeface="Segoe UI"/>
              </a:rPr>
              <a:t>Extracts Request-Line (Method, URI, Version), decodes headers, measures Content-Length.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63040"/>
            <a:ext cx="246888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4. Validator</a:t>
            </a:r>
          </a:p>
          <a:p>
            <a:pPr>
              <a:spcBef>
                <a:spcPts val="200"/>
              </a:spcBef>
            </a:pPr>
            <a:r>
              <a:rPr b="0" sz="900">
                <a:solidFill>
                  <a:srgbClr val="F8FAFC"/>
                </a:solidFill>
                <a:latin typeface="Courier New"/>
              </a:rPr>
              <a:t>RFC Framing Checks</a:t>
            </a:r>
          </a:p>
          <a:p>
            <a:pPr>
              <a:spcBef>
                <a:spcPts val="600"/>
              </a:spcBef>
            </a:pPr>
            <a:r>
              <a:rPr b="0" sz="950">
                <a:solidFill>
                  <a:srgbClr val="94A3B8"/>
                </a:solidFill>
                <a:latin typeface="Segoe UI"/>
              </a:rPr>
              <a:t>Enforces Host header, validates size limits (URI &lt; 8KB), prevents traversal (/../).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246888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/>
          <a:lstStyle/>
          <a:p>
            <a:pPr algn="ctr"/>
            <a:r>
              <a:rPr b="1" sz="1200">
                <a:solidFill>
                  <a:srgbClr val="10B981"/>
                </a:solidFill>
                <a:latin typeface="Segoe UI"/>
              </a:rPr>
              <a:t>5. Router</a:t>
            </a:r>
          </a:p>
          <a:p>
            <a:pPr>
              <a:spcBef>
                <a:spcPts val="200"/>
              </a:spcBef>
            </a:pPr>
            <a:r>
              <a:rPr b="0" sz="900">
                <a:solidFill>
                  <a:srgbClr val="F8FAFC"/>
                </a:solidFill>
                <a:latin typeface="Courier New"/>
              </a:rPr>
              <a:t>Pattern Dispatch</a:t>
            </a:r>
          </a:p>
          <a:p>
            <a:pPr>
              <a:spcBef>
                <a:spcPts val="600"/>
              </a:spcBef>
            </a:pPr>
            <a:r>
              <a:rPr b="0" sz="950">
                <a:solidFill>
                  <a:srgbClr val="94A3B8"/>
                </a:solidFill>
                <a:latin typeface="Segoe UI"/>
              </a:rPr>
              <a:t>Matches exact &amp; param routes (/items/{id}). Emits RFC 405 with 'Allow' header if verb fails.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886200"/>
            <a:ext cx="246888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/>
          <a:lstStyle/>
          <a:p>
            <a:pPr algn="ctr"/>
            <a:r>
              <a:rPr b="1" sz="1200">
                <a:solidFill>
                  <a:srgbClr val="10B981"/>
                </a:solidFill>
                <a:latin typeface="Segoe UI"/>
              </a:rPr>
              <a:t>6. Handler</a:t>
            </a:r>
          </a:p>
          <a:p>
            <a:pPr>
              <a:spcBef>
                <a:spcPts val="200"/>
              </a:spcBef>
            </a:pPr>
            <a:r>
              <a:rPr b="0" sz="900">
                <a:solidFill>
                  <a:srgbClr val="F8FAFC"/>
                </a:solidFill>
                <a:latin typeface="Courier New"/>
              </a:rPr>
              <a:t>Business Logic</a:t>
            </a:r>
          </a:p>
          <a:p>
            <a:pPr>
              <a:spcBef>
                <a:spcPts val="600"/>
              </a:spcBef>
            </a:pPr>
            <a:r>
              <a:rPr b="0" sz="950">
                <a:solidFill>
                  <a:srgbClr val="94A3B8"/>
                </a:solidFill>
                <a:latin typeface="Segoe UI"/>
              </a:rPr>
              <a:t>Executes REST CRUD controller, inspects JSON payloads, builds Response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86200"/>
            <a:ext cx="246888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/>
          <a:lstStyle/>
          <a:p>
            <a:pPr algn="ctr"/>
            <a:r>
              <a:rPr b="1" sz="1200">
                <a:solidFill>
                  <a:srgbClr val="10B981"/>
                </a:solidFill>
                <a:latin typeface="Segoe UI"/>
              </a:rPr>
              <a:t>7. Serializer</a:t>
            </a:r>
          </a:p>
          <a:p>
            <a:pPr>
              <a:spcBef>
                <a:spcPts val="200"/>
              </a:spcBef>
            </a:pPr>
            <a:r>
              <a:rPr b="0" sz="900">
                <a:solidFill>
                  <a:srgbClr val="F8FAFC"/>
                </a:solidFill>
                <a:latin typeface="Courier New"/>
              </a:rPr>
              <a:t>Wire Byte Formatting</a:t>
            </a:r>
          </a:p>
          <a:p>
            <a:pPr>
              <a:spcBef>
                <a:spcPts val="600"/>
              </a:spcBef>
            </a:pPr>
            <a:r>
              <a:rPr b="0" sz="950">
                <a:solidFill>
                  <a:srgbClr val="94A3B8"/>
                </a:solidFill>
                <a:latin typeface="Segoe UI"/>
              </a:rPr>
              <a:t>Serializes Status-Line, headers (Date, Content-Length, Keep-Alive), CRLF, and body.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886200"/>
            <a:ext cx="246888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/>
          <a:lstStyle/>
          <a:p>
            <a:pPr algn="ctr"/>
            <a:r>
              <a:rPr b="1" sz="1200">
                <a:solidFill>
                  <a:srgbClr val="10B981"/>
                </a:solidFill>
                <a:latin typeface="Segoe UI"/>
              </a:rPr>
              <a:t>8. TCP Transmit</a:t>
            </a:r>
          </a:p>
          <a:p>
            <a:pPr>
              <a:spcBef>
                <a:spcPts val="200"/>
              </a:spcBef>
            </a:pPr>
            <a:r>
              <a:rPr b="0" sz="900">
                <a:solidFill>
                  <a:srgbClr val="F8FAFC"/>
                </a:solidFill>
                <a:latin typeface="Courier New"/>
              </a:rPr>
              <a:t>sendall() to Socket</a:t>
            </a:r>
          </a:p>
          <a:p>
            <a:pPr>
              <a:spcBef>
                <a:spcPts val="600"/>
              </a:spcBef>
            </a:pPr>
            <a:r>
              <a:rPr b="0" sz="950">
                <a:solidFill>
                  <a:srgbClr val="94A3B8"/>
                </a:solidFill>
                <a:latin typeface="Segoe UI"/>
              </a:rPr>
              <a:t>Transmits byte stream over TCP. Records microsecond timings; re-arms socket for Keep-Alive.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38BDF8"/>
                </a:solidFill>
                <a:latin typeface="Segoe UI"/>
              </a:rPr>
              <a:t>SYSTEM SPECIFICATIONS &amp;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200">
                <a:solidFill>
                  <a:srgbClr val="F8FAFC"/>
                </a:solidFill>
                <a:latin typeface="Segoe UI"/>
              </a:rPr>
              <a:t>3. Devices, Tools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7254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Core Socket Engine (Backend)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8BDF8"/>
                </a:solidFill>
                <a:latin typeface="Segoe UI"/>
              </a:rPr>
              <a:t>• Language: </a:t>
            </a:r>
            <a:r>
              <a:rPr b="0" sz="950">
                <a:solidFill>
                  <a:srgbClr val="F8FAFC"/>
                </a:solidFill>
                <a:latin typeface="Segoe UI"/>
              </a:rPr>
              <a:t>Python 3.11+ (Standard Library)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8BDF8"/>
                </a:solidFill>
                <a:latin typeface="Segoe UI"/>
              </a:rPr>
              <a:t>• Socket API: </a:t>
            </a:r>
            <a:r>
              <a:rPr b="0" sz="950">
                <a:solidFill>
                  <a:srgbClr val="F8FAFC"/>
                </a:solidFill>
                <a:latin typeface="Segoe UI"/>
              </a:rPr>
              <a:t>socket.socket(AF_INET, SOCK_STREAM)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8BDF8"/>
                </a:solidFill>
                <a:latin typeface="Segoe UI"/>
              </a:rPr>
              <a:t>• Concurrency: </a:t>
            </a:r>
            <a:r>
              <a:rPr b="0" sz="950">
                <a:solidFill>
                  <a:srgbClr val="F8FAFC"/>
                </a:solidFill>
                <a:latin typeface="Segoe UI"/>
              </a:rPr>
              <a:t>Thread-pool worker model (32 threads)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8BDF8"/>
                </a:solidFill>
                <a:latin typeface="Segoe UI"/>
              </a:rPr>
              <a:t>• Protocols: </a:t>
            </a:r>
            <a:r>
              <a:rPr b="0" sz="950">
                <a:solidFill>
                  <a:srgbClr val="F8FAFC"/>
                </a:solidFill>
                <a:latin typeface="Segoe UI"/>
              </a:rPr>
              <a:t>HTTP/1.1 (RFC 9112) &amp; SSE (RFC 8895)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8BDF8"/>
                </a:solidFill>
                <a:latin typeface="Segoe UI"/>
              </a:rPr>
              <a:t>• Buffering: </a:t>
            </a:r>
            <a:r>
              <a:rPr b="0" sz="950">
                <a:solidFill>
                  <a:srgbClr val="F8FAFC"/>
                </a:solidFill>
                <a:latin typeface="Segoe UI"/>
              </a:rPr>
              <a:t>StreamBuffer with circular chunk scan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8BDF8"/>
                </a:solidFill>
                <a:latin typeface="Segoe UI"/>
              </a:rPr>
              <a:t>• Routing: </a:t>
            </a:r>
            <a:r>
              <a:rPr b="0" sz="950">
                <a:solidFill>
                  <a:srgbClr val="F8FAFC"/>
                </a:solidFill>
                <a:latin typeface="Segoe UI"/>
              </a:rPr>
              <a:t>Trie-based Regex &amp; Exact Path Matching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8BDF8"/>
                </a:solidFill>
                <a:latin typeface="Segoe UI"/>
              </a:rPr>
              <a:t>• Security: </a:t>
            </a:r>
            <a:r>
              <a:rPr b="0" sz="950">
                <a:solidFill>
                  <a:srgbClr val="F8FAFC"/>
                </a:solidFill>
                <a:latin typeface="Segoe UI"/>
              </a:rPr>
              <a:t>Safe path resolution &amp; RFC header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725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WireView Studio (Frontend)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Segoe UI"/>
              </a:rPr>
              <a:t>• Framework: </a:t>
            </a:r>
            <a:r>
              <a:rPr b="0" sz="950">
                <a:solidFill>
                  <a:srgbClr val="F8FAFC"/>
                </a:solidFill>
                <a:latin typeface="Segoe UI"/>
              </a:rPr>
              <a:t>React 19 + TypeScript 5.0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Segoe UI"/>
              </a:rPr>
              <a:t>• Build Tool: </a:t>
            </a:r>
            <a:r>
              <a:rPr b="0" sz="950">
                <a:solidFill>
                  <a:srgbClr val="F8FAFC"/>
                </a:solidFill>
                <a:latin typeface="Segoe UI"/>
              </a:rPr>
              <a:t>Vite 8.3 (High-speed HMR bundle)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Segoe UI"/>
              </a:rPr>
              <a:t>• Visualizer: </a:t>
            </a:r>
            <a:r>
              <a:rPr b="0" sz="950">
                <a:solidFill>
                  <a:srgbClr val="F8FAFC"/>
                </a:solidFill>
                <a:latin typeface="Segoe UI"/>
              </a:rPr>
              <a:t>Declarative SVG Canvas with keyframe glow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Segoe UI"/>
              </a:rPr>
              <a:t>• Styling: </a:t>
            </a:r>
            <a:r>
              <a:rPr b="0" sz="950">
                <a:solidFill>
                  <a:srgbClr val="F8FAFC"/>
                </a:solidFill>
                <a:latin typeface="Segoe UI"/>
              </a:rPr>
              <a:t>Vanilla CSS, Cyberpunk Glassmorphism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Segoe UI"/>
              </a:rPr>
              <a:t>• Streaming: </a:t>
            </a:r>
            <a:r>
              <a:rPr b="0" sz="950">
                <a:solidFill>
                  <a:srgbClr val="F8FAFC"/>
                </a:solidFill>
                <a:latin typeface="Segoe UI"/>
              </a:rPr>
              <a:t>EventSource API (Server-Sent Events)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Segoe UI"/>
              </a:rPr>
              <a:t>• Icons: </a:t>
            </a:r>
            <a:r>
              <a:rPr b="0" sz="950">
                <a:solidFill>
                  <a:srgbClr val="F8FAFC"/>
                </a:solidFill>
                <a:latin typeface="Segoe UI"/>
              </a:rPr>
              <a:t>Lucide React (Feather design system)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  <a:latin typeface="Segoe UI"/>
              </a:rPr>
              <a:t>• Telemetry UI: </a:t>
            </a:r>
            <a:r>
              <a:rPr b="0" sz="950">
                <a:solidFill>
                  <a:srgbClr val="F8FAFC"/>
                </a:solidFill>
                <a:latin typeface="Segoe UI"/>
              </a:rPr>
              <a:t>Metrics Dashboard, Request Lab, Inspector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72544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Hardware &amp; Diagnostics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EA5E9"/>
                </a:solidFill>
                <a:latin typeface="Segoe UI"/>
              </a:rPr>
              <a:t>• Host Machine: </a:t>
            </a:r>
            <a:r>
              <a:rPr b="0" sz="950">
                <a:solidFill>
                  <a:srgbClr val="F8FAFC"/>
                </a:solidFill>
                <a:latin typeface="Segoe UI"/>
              </a:rPr>
              <a:t>x64 Workstation (16 GB RAM, NVMe SSD)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EA5E9"/>
                </a:solidFill>
                <a:latin typeface="Segoe UI"/>
              </a:rPr>
              <a:t>• Operating System: </a:t>
            </a:r>
            <a:r>
              <a:rPr b="0" sz="950">
                <a:solidFill>
                  <a:srgbClr val="F8FAFC"/>
                </a:solidFill>
                <a:latin typeface="Segoe UI"/>
              </a:rPr>
              <a:t>Windows 11 / Linux Kernel 5.15+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EA5E9"/>
                </a:solidFill>
                <a:latin typeface="Segoe UI"/>
              </a:rPr>
              <a:t>• Loopback Adapter: </a:t>
            </a:r>
            <a:r>
              <a:rPr b="0" sz="950">
                <a:solidFill>
                  <a:srgbClr val="F8FAFC"/>
                </a:solidFill>
                <a:latin typeface="Segoe UI"/>
              </a:rPr>
              <a:t>127.0.0.1:8080 (Sub-millisecond latency)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EA5E9"/>
                </a:solidFill>
                <a:latin typeface="Segoe UI"/>
              </a:rPr>
              <a:t>• Benchmarking: </a:t>
            </a:r>
            <a:r>
              <a:rPr b="0" sz="950">
                <a:solidFill>
                  <a:srgbClr val="F8FAFC"/>
                </a:solidFill>
                <a:latin typeface="Segoe UI"/>
              </a:rPr>
              <a:t>cURL 8.0, PowerShell 7 Test-Harness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EA5E9"/>
                </a:solidFill>
                <a:latin typeface="Segoe UI"/>
              </a:rPr>
              <a:t>• Browser Client: </a:t>
            </a:r>
            <a:r>
              <a:rPr b="0" sz="950">
                <a:solidFill>
                  <a:srgbClr val="F8FAFC"/>
                </a:solidFill>
                <a:latin typeface="Segoe UI"/>
              </a:rPr>
              <a:t>Chromium DevTools / Edge Inspector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EA5E9"/>
                </a:solidFill>
                <a:latin typeface="Segoe UI"/>
              </a:rPr>
              <a:t>• Test Suite: </a:t>
            </a:r>
            <a:r>
              <a:rPr b="0" sz="950">
                <a:solidFill>
                  <a:srgbClr val="F8FAFC"/>
                </a:solidFill>
                <a:latin typeface="Segoe UI"/>
              </a:rPr>
              <a:t>Python unittest (50+ automated unit tests)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EA5E9"/>
                </a:solidFill>
                <a:latin typeface="Segoe UI"/>
              </a:rPr>
              <a:t>• Process Daemon: </a:t>
            </a:r>
            <a:r>
              <a:rPr b="0" sz="950">
                <a:solidFill>
                  <a:srgbClr val="F8FAFC"/>
                </a:solidFill>
                <a:latin typeface="Segoe UI"/>
              </a:rPr>
              <a:t>Independent background service runner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38BDF8"/>
                </a:solidFill>
                <a:latin typeface="Segoe UI"/>
              </a:rPr>
              <a:t>TEST MATRIX &amp; PROTOCOL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200">
                <a:solidFill>
                  <a:srgbClr val="F8FAFC"/>
                </a:solidFill>
                <a:latin typeface="Segoe UI"/>
              </a:rPr>
              <a:t>4. Simulation Setup &amp; Educational Scenarios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194560"/>
                <a:gridCol w="1463040"/>
                <a:gridCol w="3017520"/>
              </a:tblGrid>
              <a:tr h="508000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38BDF8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38BDF8"/>
                          </a:solidFill>
                          <a:latin typeface="Segoe UI"/>
                        </a:rPr>
                        <a:t>HTTP Method &amp; Route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38BDF8"/>
                          </a:solidFill>
                          <a:latin typeface="Segoe UI"/>
                        </a:rPr>
                        <a:t>Payload / Conditions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38BDF8"/>
                          </a:solidFill>
                          <a:latin typeface="Segoe UI"/>
                        </a:rPr>
                        <a:t>Expected Status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38BDF8"/>
                          </a:solidFill>
                          <a:latin typeface="Segoe UI"/>
                        </a:rPr>
                        <a:t>Observed Traversal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Health Probe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GET /health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Empty header/body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10B981"/>
                          </a:solidFill>
                          <a:latin typeface="Segoe UI"/>
                        </a:rPr>
                        <a:t>200 OK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All 8 stages traverse in 360ms. Latency &lt; 1ms.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Engine Capability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GET /api/info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Inspect server RFC limits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10B981"/>
                          </a:solidFill>
                          <a:latin typeface="Segoe UI"/>
                        </a:rPr>
                        <a:t>200 OK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Returns JSON feature flag &amp; socket chunk buffer size.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REST Resource Creation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POST /api/items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JSON RFC metadata body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10B981"/>
                          </a:solidFill>
                          <a:latin typeface="Segoe UI"/>
                        </a:rPr>
                        <a:t>201 Created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Parser extracts Content-Length; handler stores in RAM.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Payload Echo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POST /api/echo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Arbitrary client payload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10B981"/>
                          </a:solidFill>
                          <a:latin typeface="Segoe UI"/>
                        </a:rPr>
                        <a:t>200 OK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Exact wire framing verification &amp; body echo.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Unknown Route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GET /api/unknown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Non-existent URI pattern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10B981"/>
                          </a:solidFill>
                          <a:latin typeface="Segoe UI"/>
                        </a:rPr>
                        <a:t>404 Not Found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Router terminates flow; Handler skipped; error JSON.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Method Rejection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POST /api/time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POST to GET-only route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10B981"/>
                          </a:solidFill>
                          <a:latin typeface="Segoe UI"/>
                        </a:rPr>
                        <a:t>405 Method Not Allowed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Emits mandatory RFC 'Allow: GET, HEAD' header.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Simulated Fault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GET /api/test/error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Handler raises exception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10B981"/>
                          </a:solidFill>
                          <a:latin typeface="Segoe UI"/>
                        </a:rPr>
                        <a:t>500 Internal Error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Catches crash gracefully; worker thread survives.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Security Defense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GET /../../etc/passwd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Directory traversal probe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10B981"/>
                          </a:solidFill>
                          <a:latin typeface="Segoe UI"/>
                        </a:rPr>
                        <a:t>400 / 404 Blocked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950">
                          <a:solidFill>
                            <a:srgbClr val="F8FAFC"/>
                          </a:solidFill>
                          <a:latin typeface="Segoe UI"/>
                        </a:rPr>
                        <a:t>Path sanitizer halts escape outside static root.</a:t>
                      </a:r>
                    </a:p>
                  </a:txBody>
                  <a:tcPr>
                    <a:solidFill>
                      <a:srgbClr val="1725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38BDF8"/>
                </a:solidFill>
                <a:latin typeface="Segoe UI"/>
              </a:rPr>
              <a:t>REAL-TIME SVG CANVAS &amp; INTERACTIVE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200">
                <a:solidFill>
                  <a:srgbClr val="F8FAFC"/>
                </a:solidFill>
                <a:latin typeface="Segoe UI"/>
              </a:rPr>
              <a:t>5. Live Protocol Visualizer &amp; Studio</a:t>
            </a:r>
          </a:p>
        </p:txBody>
      </p:sp>
      <p:pic>
        <p:nvPicPr>
          <p:cNvPr id="5" name="Picture 4" descr="get_health_animated_final_1791627802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369189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371600"/>
            <a:ext cx="2743200" cy="4846320"/>
          </a:xfrm>
          <a:prstGeom prst="roundRect">
            <a:avLst/>
          </a:prstGeom>
          <a:solidFill>
            <a:srgbClr val="17254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Visualizer Features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8BDF8"/>
                </a:solidFill>
                <a:latin typeface="Segoe UI"/>
              </a:rPr>
              <a:t>★ Paced Step Animation
</a:t>
            </a:r>
            <a:r>
              <a:rPr b="0" sz="900">
                <a:solidFill>
                  <a:srgbClr val="94A3B8"/>
                </a:solidFill>
                <a:latin typeface="Segoe UI"/>
              </a:rPr>
              <a:t>Animates stages sequentially (360ms default) so humans can follow.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8BDF8"/>
                </a:solidFill>
                <a:latin typeface="Segoe UI"/>
              </a:rPr>
              <a:t>★ Active vs Completed
</a:t>
            </a:r>
            <a:r>
              <a:rPr b="0" sz="900">
                <a:solidFill>
                  <a:srgbClr val="94A3B8"/>
                </a:solidFill>
                <a:latin typeface="Segoe UI"/>
              </a:rPr>
              <a:t>Active node pulses cyan with dashed flow; completed nodes turn green.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8BDF8"/>
                </a:solidFill>
                <a:latin typeface="Segoe UI"/>
              </a:rPr>
              <a:t>★ Speed Controller
</a:t>
            </a:r>
            <a:r>
              <a:rPr b="0" sz="900">
                <a:solidFill>
                  <a:srgbClr val="94A3B8"/>
                </a:solidFill>
                <a:latin typeface="Segoe UI"/>
              </a:rPr>
              <a:t>User can switch between 0.5x Slow, 1x Normal, and 2x Fast.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8BDF8"/>
                </a:solidFill>
                <a:latin typeface="Segoe UI"/>
              </a:rPr>
              <a:t>★ Clean Request Stream
</a:t>
            </a:r>
            <a:r>
              <a:rPr b="0" sz="900">
                <a:solidFill>
                  <a:srgbClr val="94A3B8"/>
                </a:solidFill>
                <a:latin typeface="Segoe UI"/>
              </a:rPr>
              <a:t>Background metrics are isolated; only user-triggered requests light up.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38BDF8"/>
                </a:solidFill>
                <a:latin typeface="Segoe UI"/>
              </a:rPr>
              <a:t>★ Replay Trace Button
</a:t>
            </a:r>
            <a:r>
              <a:rPr b="0" sz="900">
                <a:solidFill>
                  <a:srgbClr val="94A3B8"/>
                </a:solidFill>
                <a:latin typeface="Segoe UI"/>
              </a:rPr>
              <a:t>Re-run the packet animation on demand with a single click.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38BDF8"/>
                </a:solidFill>
                <a:latin typeface="Segoe UI"/>
              </a:rPr>
              <a:t>FULL-DUPLEX REAL-TIME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200">
                <a:solidFill>
                  <a:srgbClr val="F8FAFC"/>
                </a:solidFill>
                <a:latin typeface="Segoe UI"/>
              </a:rPr>
              <a:t>6. Observability: Metrics &amp; Wire Inspection</a:t>
            </a:r>
          </a:p>
        </p:txBody>
      </p:sp>
      <p:pic>
        <p:nvPicPr>
          <p:cNvPr id="5" name="Picture 4" descr="metrics_tab_view_1791624793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4757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5212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950">
                <a:solidFill>
                  <a:srgbClr val="38BDF8"/>
                </a:solidFill>
                <a:latin typeface="Segoe UI"/>
              </a:rPr>
              <a:t>Metrics Dashboard: Live P50/P95 latency percentiles, throughput, status categories &amp; socket counts.</a:t>
            </a:r>
          </a:p>
        </p:txBody>
      </p:sp>
      <p:pic>
        <p:nvPicPr>
          <p:cNvPr id="7" name="Picture 6" descr="event_log_view_17916247638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4757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303520"/>
            <a:ext cx="5212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950">
                <a:solidFill>
                  <a:srgbClr val="10B981"/>
                </a:solidFill>
                <a:latin typeface="Segoe UI"/>
              </a:rPr>
              <a:t>Real-Time Event Stream: Nanosecond Server-Sent Events showing socket handshakes, parsing &amp; routing.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38BDF8"/>
                </a:solidFill>
                <a:latin typeface="Segoe UI"/>
              </a:rPr>
              <a:t>NETWORKING ENGINEERING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200">
                <a:solidFill>
                  <a:srgbClr val="F8FAFC"/>
                </a:solidFill>
                <a:latin typeface="Segoe UI"/>
              </a:rPr>
              <a:t>7. Key Technical Challenges &amp;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7254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1. TCP Byte Fragmentation &amp; Boundary Scans</a:t>
            </a:r>
          </a:p>
          <a:p>
            <a:pPr>
              <a:spcBef>
                <a:spcPts val="400"/>
              </a:spcBef>
            </a:pPr>
            <a:r>
              <a:rPr b="0" sz="1000">
                <a:solidFill>
                  <a:srgbClr val="94A3B8"/>
                </a:solidFill>
                <a:latin typeface="Segoe UI"/>
              </a:rPr>
              <a:t>Challenge: TCP is a byte stream, not a message protocol. Headers can split across packets.
Solution: Implemented StreamBuffer that reads in 8KB chunks, inspects double CRLF (\r\n\r\n) boundaries without over-consuming payload bytes.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1725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2. Sub-Millisecond Speed vs Visual Pacing</a:t>
            </a:r>
          </a:p>
          <a:p>
            <a:pPr>
              <a:spcBef>
                <a:spcPts val="400"/>
              </a:spcBef>
            </a:pPr>
            <a:r>
              <a:rPr b="0" sz="1000">
                <a:solidFill>
                  <a:srgbClr val="94A3B8"/>
                </a:solidFill>
                <a:latin typeface="Segoe UI"/>
              </a:rPr>
              <a:t>Challenge: On localhost, Python processes requests in &lt; 0.3ms, snapping all nodes green simultaneously.
Solution: Introduced state-driven sequential reveal pacing (360ms/stage) to clearly animate the active packet front and traversed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72544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3. Internal Telemetry Feedback Loops</a:t>
            </a:r>
          </a:p>
          <a:p>
            <a:pPr>
              <a:spcBef>
                <a:spcPts val="400"/>
              </a:spcBef>
            </a:pPr>
            <a:r>
              <a:rPr b="0" sz="1000">
                <a:solidFill>
                  <a:srgbClr val="94A3B8"/>
                </a:solidFill>
                <a:latin typeface="Segoe UI"/>
              </a:rPr>
              <a:t>Challenge: Studio metrics polling (/api/metrics every 1.2s) created an infinite loop of SSE events.
Solution: Filtered telemetry polling with X-Internal-Poll headers, preventing background telemetry from interrupting user test 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17254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4. RFC 9112 Request Smuggling Prevention</a:t>
            </a:r>
          </a:p>
          <a:p>
            <a:pPr>
              <a:spcBef>
                <a:spcPts val="400"/>
              </a:spcBef>
            </a:pPr>
            <a:r>
              <a:rPr b="0" sz="1000">
                <a:solidFill>
                  <a:srgbClr val="94A3B8"/>
                </a:solidFill>
                <a:latin typeface="Segoe UI"/>
              </a:rPr>
              <a:t>Challenge: Malformed framing or duplicate Content-Length headers create HTTP desync vulnerabilities.
Solution: Strict RFC 9112 validator rejects duplicate headers, enforces positive integers, and strictly validates Host headers.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38BDF8"/>
                </a:solidFill>
                <a:latin typeface="Segoe UI"/>
              </a:rPr>
              <a:t>SUMMARY OF PROJECT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200">
                <a:solidFill>
                  <a:srgbClr val="F8FAFC"/>
                </a:solidFill>
                <a:latin typeface="Segoe UI"/>
              </a:rPr>
              <a:t>8. Conclusion &amp; 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72544"/>
          </a:solidFill>
          <a:ln w="15240">
            <a:solidFill>
              <a:srgbClr val="2E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Key Takeaways &amp; Educational Impact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10B981"/>
                </a:solidFill>
                <a:latin typeface="Segoe UI"/>
              </a:rPr>
              <a:t>✔ Complete Mastery of Low-Level Socket Programming
</a:t>
            </a:r>
            <a:r>
              <a:rPr b="0" sz="1050">
                <a:solidFill>
                  <a:srgbClr val="F8FAFC"/>
                </a:solidFill>
                <a:latin typeface="Segoe UI"/>
              </a:rPr>
              <a:t>Successfully proved that a fully functional, multi-threaded, RFC-compliant HTTP server can be built from raw Berkeley sockets without heavy third-party abstractions.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10B981"/>
                </a:solidFill>
                <a:latin typeface="Segoe UI"/>
              </a:rPr>
              <a:t>✔ Deep Understanding of Protocol Framing (RFC 9112)
</a:t>
            </a:r>
            <a:r>
              <a:rPr b="0" sz="1050">
                <a:solidFill>
                  <a:srgbClr val="F8FAFC"/>
                </a:solidFill>
                <a:latin typeface="Segoe UI"/>
              </a:rPr>
              <a:t>Acquired practical expertise in stream buffers, CRLF parsing, header case-insensitivity, keep-alive connection reuse, and HTTP status code semantics.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10B981"/>
                </a:solidFill>
                <a:latin typeface="Segoe UI"/>
              </a:rPr>
              <a:t>✔ Full-Stack Decoupled Observability
</a:t>
            </a:r>
            <a:r>
              <a:rPr b="0" sz="1050">
                <a:solidFill>
                  <a:srgbClr val="F8FAFC"/>
                </a:solidFill>
                <a:latin typeface="Segoe UI"/>
              </a:rPr>
              <a:t>Engineered an asynchronous Server-Sent Events (SSE) telemetry bus linking a multi-threaded Python TCP daemon to a reactive React &amp; SVG frontend.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10B981"/>
                </a:solidFill>
                <a:latin typeface="Segoe UI"/>
              </a:rPr>
              <a:t>✔ Benchmark Performance &amp; Reliability
</a:t>
            </a:r>
            <a:r>
              <a:rPr b="0" sz="1050">
                <a:solidFill>
                  <a:srgbClr val="F8FAFC"/>
                </a:solidFill>
                <a:latin typeface="Segoe UI"/>
              </a:rPr>
              <a:t>Delivers sub-millisecond request latencies (&lt; 0.5 ms), handles 32 concurrent worker threads, incorporates directory traversal security defenses, and runs leak-free.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38BDF8"/>
                </a:solidFill>
                <a:latin typeface="Segoe UI"/>
              </a:rPr>
              <a:t>DOCUMENTATION &amp; ACKNOWLEDGMENTS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200">
                <a:solidFill>
                  <a:srgbClr val="F8FAFC"/>
                </a:solidFill>
                <a:latin typeface="Segoe UI"/>
              </a:rPr>
              <a:t>9. References &amp; Open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172544"/>
          </a:solidFill>
          <a:ln w="15240">
            <a:solidFill>
              <a:srgbClr val="2E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Key Academic &amp; Technical References</a:t>
            </a:r>
          </a:p>
          <a:p>
            <a:pPr>
              <a:spcBef>
                <a:spcPts val="800"/>
              </a:spcBef>
            </a:pPr>
            <a:r>
              <a:rPr b="0" sz="950">
                <a:solidFill>
                  <a:srgbClr val="94A3B8"/>
                </a:solidFill>
                <a:latin typeface="Segoe UI"/>
              </a:rPr>
              <a:t>• IETF RFC 9110: HTTP Semantics (Fielding, Nottingham, Reschke, 2022).</a:t>
            </a:r>
          </a:p>
          <a:p>
            <a:pPr>
              <a:spcBef>
                <a:spcPts val="800"/>
              </a:spcBef>
            </a:pPr>
            <a:r>
              <a:rPr b="0" sz="950">
                <a:solidFill>
                  <a:srgbClr val="94A3B8"/>
                </a:solidFill>
                <a:latin typeface="Segoe UI"/>
              </a:rPr>
              <a:t>• IETF RFC 9112: HTTP/1.1 Message Syntax and Routing (Fielding, Reschke, 2022).</a:t>
            </a:r>
          </a:p>
          <a:p>
            <a:pPr>
              <a:spcBef>
                <a:spcPts val="800"/>
              </a:spcBef>
            </a:pPr>
            <a:r>
              <a:rPr b="0" sz="950">
                <a:solidFill>
                  <a:srgbClr val="94A3B8"/>
                </a:solidFill>
                <a:latin typeface="Segoe UI"/>
              </a:rPr>
              <a:t>• IETF RFC 7230: Hypertext Transfer Protocol: Message Syntax and Routing.</a:t>
            </a:r>
          </a:p>
          <a:p>
            <a:pPr>
              <a:spcBef>
                <a:spcPts val="800"/>
              </a:spcBef>
            </a:pPr>
            <a:r>
              <a:rPr b="0" sz="950">
                <a:solidFill>
                  <a:srgbClr val="94A3B8"/>
                </a:solidFill>
                <a:latin typeface="Segoe UI"/>
              </a:rPr>
              <a:t>• W. Richard Stevens: UNIX Network Programming, Vol 1: The Sockets Networking API.</a:t>
            </a:r>
          </a:p>
          <a:p>
            <a:pPr>
              <a:spcBef>
                <a:spcPts val="800"/>
              </a:spcBef>
            </a:pPr>
            <a:r>
              <a:rPr b="0" sz="950">
                <a:solidFill>
                  <a:srgbClr val="94A3B8"/>
                </a:solidFill>
                <a:latin typeface="Segoe UI"/>
              </a:rPr>
              <a:t>• J. Kurose &amp; K. Ross: Computer Networking: A Top-Down Approach (8th Edition).</a:t>
            </a:r>
          </a:p>
          <a:p>
            <a:pPr>
              <a:spcBef>
                <a:spcPts val="800"/>
              </a:spcBef>
            </a:pPr>
            <a:r>
              <a:rPr b="0" sz="950">
                <a:solidFill>
                  <a:srgbClr val="94A3B8"/>
                </a:solidFill>
                <a:latin typeface="Segoe UI"/>
              </a:rPr>
              <a:t>• Python Software Foundation: socket &amp; threading library official documentation.</a:t>
            </a:r>
          </a:p>
          <a:p>
            <a:pPr>
              <a:spcBef>
                <a:spcPts val="800"/>
              </a:spcBef>
            </a:pPr>
            <a:r>
              <a:rPr b="0" sz="950">
                <a:solidFill>
                  <a:srgbClr val="94A3B8"/>
                </a:solidFill>
                <a:latin typeface="Segoe UI"/>
              </a:rPr>
              <a:t>• Mozilla Developer Network (MDN): Server-Sent Events (EventSource) specification.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17254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Thank You!</a:t>
            </a:r>
          </a:p>
          <a:p>
            <a:pPr>
              <a:spcBef>
                <a:spcPts val="2000"/>
              </a:spcBef>
            </a:pPr>
            <a:r>
              <a:rPr b="1" sz="1800">
                <a:solidFill>
                  <a:srgbClr val="38BDF8"/>
                </a:solidFill>
                <a:latin typeface="Segoe UI"/>
              </a:rPr>
              <a:t>WireView HTTP</a:t>
            </a:r>
          </a:p>
          <a:p>
            <a:pPr>
              <a:spcBef>
                <a:spcPts val="800"/>
              </a:spcBef>
            </a:pPr>
            <a:r>
              <a:rPr b="0" sz="1300">
                <a:solidFill>
                  <a:srgbClr val="F8FAFC"/>
                </a:solidFill>
                <a:latin typeface="Segoe UI"/>
              </a:rPr>
              <a:t>Questions &amp; Live Demonstration</a:t>
            </a:r>
          </a:p>
          <a:p>
            <a:pPr>
              <a:spcBef>
                <a:spcPts val="2000"/>
              </a:spcBef>
            </a:pPr>
            <a:r>
              <a:rPr b="0" sz="1000">
                <a:solidFill>
                  <a:srgbClr val="10B981"/>
                </a:solidFill>
                <a:latin typeface="Segoe UI"/>
              </a:rPr>
              <a:t>Ready to demonstrate live socket inspection and SVG packet tracing on port 8080.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